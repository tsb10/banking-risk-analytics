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edger"/>
      <p:regular r:id="rId201314"/>
    </p:embeddedFont>
    <p:embeddedFont>
      <p:font typeface="Mozilla Text"/>
      <p:regular r:id="rId201315"/>
    </p:embeddedFont>
    <p:embeddedFont>
      <p:font typeface="Mozilla Text Medium"/>
      <p:regular r:id="rId201316"/>
    </p:embeddedFont>
    <p:embeddedFont>
      <p:font typeface="Mozilla Tex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569"/>
            <a:ext cx="548626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PORTFOLIO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9638"/>
            <a:ext cx="502907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40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Banking Risk Analytics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033461"/>
            <a:ext cx="5029074" cy="877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An end-to-end data analytics portfolio project using MySQL, Python, Pandas, and Power BI.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6161961"/>
            <a:ext cx="548626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Business-facing analysis · descriptive risk intelligence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569"/>
            <a:ext cx="369312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PORTFOLIO 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8208"/>
            <a:ext cx="3083542" cy="3017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A ₹556.62 crore loan portfolio carries a 9.48% default incidence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4017169"/>
            <a:ext cx="3083542" cy="223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5,000 customers and 6,500 loans analyzed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616 loans flagged Defaulted; ₹51.91 crore of original principal associated with those loans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₹198.65 crore total outstanding balance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369386" y="1508700"/>
            <a:ext cx="6822309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Portfolio KPI snapshot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9386" y="1861840"/>
            <a:ext cx="6212724" cy="34878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74471" y="6444952"/>
            <a:ext cx="617224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569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ANALYTICAL 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8208"/>
            <a:ext cx="1097252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The analysis connected four business views into one risk story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35842"/>
            <a:ext cx="10972526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The project is descriptive analytics, not a predictive credit model.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9100" y="3327499"/>
            <a:ext cx="6773495" cy="2920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66621" y="3660809"/>
            <a:ext cx="3724875" cy="213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00" spc="-7" kern="100" dirty="0">
                <a:solidFill>
                  <a:srgbClr val="000000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166621" y="4338153"/>
            <a:ext cx="3724875" cy="213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00" spc="-7" kern="100" dirty="0">
                <a:solidFill>
                  <a:srgbClr val="000000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Portfolio Composition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66621" y="5008723"/>
            <a:ext cx="3724875" cy="213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00" spc="-7" kern="100" dirty="0">
                <a:solidFill>
                  <a:srgbClr val="000000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Risk Exposure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166621" y="5679293"/>
            <a:ext cx="3724875" cy="213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00" spc="-7" kern="100" dirty="0">
                <a:solidFill>
                  <a:srgbClr val="000000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Transaction Reliability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573875" y="6444952"/>
            <a:ext cx="617820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569"/>
            <a:ext cx="369312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CUSTOMER 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8208"/>
            <a:ext cx="3083542" cy="251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Mass Market customers make up 62.42% of the base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555603"/>
            <a:ext cx="3083542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Average credit score across the 5,000 original customers: 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FF8A4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734.12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09585" y="6060361"/>
            <a:ext cx="3693127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Customer segment mix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9386" y="1653877"/>
            <a:ext cx="6212724" cy="35501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73280" y="6444952"/>
            <a:ext cx="618415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569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PRODUCT EXPOSURE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8208"/>
            <a:ext cx="1097252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Personal Loans create the largest absolute defaulted principal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47557"/>
            <a:ext cx="5333867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Defaulted principal (₹ crore) by loan product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43547"/>
            <a:ext cx="4571886" cy="241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48244" y="2047081"/>
            <a:ext cx="5333867" cy="2192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Personal Loan: ₹19.80 crore defaulted principal, 220 defaulted loans, 9.22% default rate.</a:t>
            </a:r>
            <a:endParaRPr lang="en-US" sz="1450" dirty="0"/>
          </a:p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Home Loan: ₹11.42 crore, 141 defaults, 10.01% rate.</a:t>
            </a:r>
            <a:endParaRPr lang="en-US" sz="1450" dirty="0"/>
          </a:p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Auto Loan: ₹10.64 crore, 128 defaults, 9.88% rate.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Education Loan has the highest observed product default rate at 10.20%, but the smallest product volume in the table.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572883" y="6444952"/>
            <a:ext cx="61881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569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SEGMENT 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8208"/>
            <a:ext cx="1097252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Premium has the highest segment default rate, but Mass Market drives volume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47557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Loan-level default rate after customer matching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00697"/>
            <a:ext cx="5333867" cy="3081834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2400697"/>
          <a:ext cx="5333867" cy="914400"/>
        </p:xfrm>
        <a:graphic>
          <a:graphicData uri="http://schemas.openxmlformats.org/drawingml/2006/table">
            <a:tbl>
              <a:tblPr/>
              <a:tblGrid>
                <a:gridCol w="1386746"/>
                <a:gridCol w="1066773"/>
                <a:gridCol w="1333467"/>
                <a:gridCol w="1546881"/>
              </a:tblGrid>
              <a:tr h="420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1F5F2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Segment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1F5F2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Loans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1F5F2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Defaults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1F5F2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Default rate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Premium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635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65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10.24%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Affluent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1,747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165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9.44%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12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Mass Market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4,118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386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9.37%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09585" y="6060361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Rates are loan-level after customer matching, not the percentage of unique customers who defaulted.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572685" y="6444952"/>
            <a:ext cx="619010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60847"/>
            <a:ext cx="525766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VALIDATION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345486"/>
            <a:ext cx="4648084" cy="2011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Risk bands need validation before they become lending thresholds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500041"/>
            <a:ext cx="4648084" cy="230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The source risk labels do not show a clean increasing default pattern in this dataset. The observed ordering is not monotonic, so labels should be treated as descriptive until calibrated against actual outcomes.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SQL ranking by summed outstanding balance can prioritize exposure review, but it is not a probability-of-default model.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934027" y="1860530"/>
            <a:ext cx="525766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Source risk band check · Default rate (%)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34027" y="2213670"/>
          <a:ext cx="4648084" cy="914400"/>
        </p:xfrm>
        <a:graphic>
          <a:graphicData uri="http://schemas.openxmlformats.org/drawingml/2006/table">
            <a:tbl>
              <a:tblPr/>
              <a:tblGrid>
                <a:gridCol w="1673282"/>
                <a:gridCol w="1487351"/>
                <a:gridCol w="1487450"/>
              </a:tblGrid>
              <a:tr h="6875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1F5F2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Risk band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1F5F2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Loan count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1F5F2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Default rate (%)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High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1240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7.66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Low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1680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10.77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Medium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1952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9.12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Very High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612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8.17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2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Very Low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1016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11.02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583202" y="6444952"/>
            <a:ext cx="608493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569"/>
            <a:ext cx="369312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8208"/>
            <a:ext cx="3083542" cy="3017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Transaction operations show a measurable reliability gap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4058444"/>
            <a:ext cx="3083542" cy="176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30,000 consolidated transaction records analyzed.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Mobile App had highest observed channel volume: 9,581 transactions; approximately ₹7.89 crore in displayed value.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09585" y="5991106"/>
            <a:ext cx="3083542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Failure rates should be compared by channel and city using a consistent denominator.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69386" y="1349454"/>
            <a:ext cx="6822309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Transaction success and failure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9386" y="1702594"/>
            <a:ext cx="6212724" cy="3328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69386" y="5195987"/>
            <a:ext cx="6822309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8A4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3.55%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failed share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571693" y="6444952"/>
            <a:ext cx="62000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569"/>
            <a:ext cx="7604629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8208"/>
            <a:ext cx="6995045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The workflow demonstrates an end-to-end analytics skill set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549922"/>
            <a:ext cx="9065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875955"/>
            <a:ext cx="212848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001943"/>
            <a:ext cx="2128487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SQL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455888"/>
            <a:ext cx="2128487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Joins, conditional aggregations, CTEs, ranking, date functions, and customer prioritization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093662" y="2549922"/>
            <a:ext cx="94444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042864" y="2875955"/>
            <a:ext cx="212848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0" name="Text 8"/>
          <p:cNvSpPr/>
          <p:nvPr/>
        </p:nvSpPr>
        <p:spPr>
          <a:xfrm>
            <a:off x="3093662" y="3001943"/>
            <a:ext cx="207768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Python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93662" y="3455888"/>
            <a:ext cx="2077688" cy="160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Data inspection, missing-value analysis, feature aggregation, merges, descriptive statistics, and visual exploration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76143" y="2549922"/>
            <a:ext cx="94563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76143" y="2875955"/>
            <a:ext cx="212848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4" name="Text 12"/>
          <p:cNvSpPr/>
          <p:nvPr/>
        </p:nvSpPr>
        <p:spPr>
          <a:xfrm>
            <a:off x="5476143" y="3001943"/>
            <a:ext cx="2128487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Power BI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76143" y="3455888"/>
            <a:ext cx="2128487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KPI reporting, risk distributions, transaction trends, and interactive dashboard navigation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09585" y="5273774"/>
            <a:ext cx="699504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Position the project as a business-facing analytics workflow, not only a collection of charts.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280888" y="609600"/>
            <a:ext cx="2301222" cy="5000228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0888" y="609600"/>
            <a:ext cx="2301222" cy="500022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280888" y="5683329"/>
            <a:ext cx="2301222" cy="565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 workflow that turns raw records into business-facing analysis.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572685" y="6444952"/>
            <a:ext cx="619010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569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CREDIBILITY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8208"/>
            <a:ext cx="8476244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Data quality decisions are part of the risk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47081"/>
            <a:ext cx="10972526" cy="1477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Loan-derived features showed 27.96% missingness because many customers had no matched loans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The notebook filled medians and then dropped rows, leaving 4,988 records; the consolidated CSV retained 5,000 rows with no nulls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For no-loan customers, zero exposure is usually more meaningful than a median-filled amount.</a:t>
            </a:r>
            <a:endParaRPr lang="en-US" sz="1450" dirty="0"/>
          </a:p>
          <a:p>
            <a:pPr algn="l" marL="294640" indent="-294640">
              <a:lnSpc>
                <a:spcPct val="121000"/>
              </a:lnSpc>
              <a:buSzPct val="100000"/>
              <a:buChar char="•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Branch borrower counts should use distinct customers, and percentages must state their denominator.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690045"/>
            <a:ext cx="460363" cy="4603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321298"/>
            <a:ext cx="2514537" cy="6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Missingness Identified</a:t>
            </a:r>
            <a:endParaRPr lang="en-US" sz="1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10" y="3690045"/>
            <a:ext cx="460363" cy="460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81310" y="4321298"/>
            <a:ext cx="2285943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Median Imputation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2" y="3690045"/>
            <a:ext cx="460363" cy="4603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24442" y="4321298"/>
            <a:ext cx="2285943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Row Drop to 4,988</a:t>
            </a:r>
            <a:endParaRPr lang="en-US" sz="1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573" y="3690045"/>
            <a:ext cx="460363" cy="4603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67573" y="4321298"/>
            <a:ext cx="2514537" cy="6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Consolidated CSV: 5,000</a:t>
            </a:r>
            <a:endParaRPr lang="en-US" sz="1850" dirty="0"/>
          </a:p>
        </p:txBody>
      </p:sp>
      <p:sp>
        <p:nvSpPr>
          <p:cNvPr id="13" name="Shape 7"/>
          <p:cNvSpPr/>
          <p:nvPr/>
        </p:nvSpPr>
        <p:spPr>
          <a:xfrm>
            <a:off x="3346366" y="3690045"/>
            <a:ext cx="12700" cy="1226939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4" name="Shape 8"/>
          <p:cNvSpPr/>
          <p:nvPr/>
        </p:nvSpPr>
        <p:spPr>
          <a:xfrm>
            <a:off x="6089498" y="3690045"/>
            <a:ext cx="12700" cy="1226939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5" name="Shape 9"/>
          <p:cNvSpPr/>
          <p:nvPr/>
        </p:nvSpPr>
        <p:spPr>
          <a:xfrm>
            <a:off x="8832629" y="3690045"/>
            <a:ext cx="12700" cy="1226939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6" name="Text 10"/>
          <p:cNvSpPr/>
          <p:nvPr/>
        </p:nvSpPr>
        <p:spPr>
          <a:xfrm>
            <a:off x="11515238" y="6444952"/>
            <a:ext cx="676457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2026-10-15T08:19:12Z</dcterms:created>
  <dcterms:modified xsi:type="dcterms:W3CDTF">2026-10-15T08:19:12Z</dcterms:modified>
</cp:coreProperties>
</file>